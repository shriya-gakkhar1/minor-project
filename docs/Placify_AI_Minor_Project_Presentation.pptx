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Default Extension="jpeg" ContentType="image/jpeg"/>
  <Default Extension="jpg" ContentType="image/jpg"/>
  <Default Extension="svg" ContentType="image/svg+xml"/>
  <Default Extension="png" ContentType="image/png"/>
  <Default Extension="gif" ContentType="image/gif"/>
  <Default Extension="m4v" ContentType="video/mp4"/>
  <Default Extension="mp4" ContentType="video/mp4"/>
  <Default Extension="vml" ContentType="application/vnd.openxmlformats-officedocument.vmlDrawing"/>
  <Default Extension="xlsx" ContentType="application/vnd.openxmlformats-officedocument.spreadsheetml.sheet"/>
  <Override PartName="/ppt/presentation.xml" ContentType="application/vnd.openxmlformats-officedocument.presentationml.presentation.main+xml"/>
  <Override PartName="/ppt/notesMasters/notesMaster1.xml" ContentType="application/vnd.openxmlformats-officedocument.presentationml.notesMaster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Masters/slideMaster2.xml" ContentType="application/vnd.openxmlformats-officedocument.presentationml.slideMaster+xml"/>
  <Override PartName="/ppt/slides/slide2.xml" ContentType="application/vnd.openxmlformats-officedocument.presentationml.slide+xml"/>
  <Override PartName="/ppt/slideMasters/slideMaster3.xml" ContentType="application/vnd.openxmlformats-officedocument.presentationml.slideMaster+xml"/>
  <Override PartName="/ppt/slides/slide3.xml" ContentType="application/vnd.openxmlformats-officedocument.presentationml.slide+xml"/>
  <Override PartName="/ppt/slideMasters/slideMaster4.xml" ContentType="application/vnd.openxmlformats-officedocument.presentationml.slideMaster+xml"/>
  <Override PartName="/ppt/slides/slide4.xml" ContentType="application/vnd.openxmlformats-officedocument.presentationml.slide+xml"/>
  <Override PartName="/ppt/slideMasters/slideMaster5.xml" ContentType="application/vnd.openxmlformats-officedocument.presentationml.slideMaster+xml"/>
  <Override PartName="/ppt/slides/slide5.xml" ContentType="application/vnd.openxmlformats-officedocument.presentationml.slide+xml"/>
  <Override PartName="/ppt/slideMasters/slideMaster6.xml" ContentType="application/vnd.openxmlformats-officedocument.presentationml.slideMaster+xml"/>
  <Override PartName="/ppt/slides/slide6.xml" ContentType="application/vnd.openxmlformats-officedocument.presentationml.slide+xml"/>
  <Override PartName="/ppt/slideMasters/slideMaster7.xml" ContentType="application/vnd.openxmlformats-officedocument.presentationml.slideMaster+xml"/>
  <Override PartName="/ppt/slides/slide7.xml" ContentType="application/vnd.openxmlformats-officedocument.presentationml.slide+xml"/>
  <Override PartName="/ppt/slideMasters/slideMaster8.xml" ContentType="application/vnd.openxmlformats-officedocument.presentationml.slideMaster+xml"/>
  <Override PartName="/ppt/slides/slide8.xml" ContentType="application/vnd.openxmlformats-officedocument.presentationml.slide+xml"/>
  <Override PartName="/ppt/slideMasters/slideMaster9.xml" ContentType="application/vnd.openxmlformats-officedocument.presentationml.slideMaster+xml"/>
  <Override PartName="/ppt/slides/slide9.xml" ContentType="application/vnd.openxmlformats-officedocument.presentationml.slide+xml"/>
  <Override PartName="/ppt/slideMasters/slideMaster10.xml" ContentType="application/vnd.openxmlformats-officedocument.presentationml.slideMaster+xml"/>
  <Override PartName="/ppt/slides/slide10.xml" ContentType="application/vnd.openxmlformats-officedocument.presentationml.slide+xml"/>
  <Override PartName="/ppt/slideMasters/slideMaster11.xml" ContentType="application/vnd.openxmlformats-officedocument.presentationml.slideMaster+xml"/>
  <Override PartName="/ppt/slides/slide11.xml" ContentType="application/vnd.openxmlformats-officedocument.presentationml.slide+xml"/>
  <Override PartName="/ppt/slideMasters/slideMaster12.xml" ContentType="application/vnd.openxmlformats-officedocument.presentationml.slideMaster+xml"/>
  <Override PartName="/ppt/slides/slide12.xml" ContentType="application/vnd.openxmlformats-officedocument.presentationml.slide+xml"/>
  <Override PartName="/ppt/slideMasters/slideMaster13.xml" ContentType="application/vnd.openxmlformats-officedocument.presentationml.slideMaster+xml"/>
  <Override PartName="/ppt/slides/slide13.xml" ContentType="application/vnd.openxmlformats-officedocument.presentationml.slide+xml"/>
  <Override PartName="/ppt/slideMasters/slideMaster14.xml" ContentType="application/vnd.openxmlformats-officedocument.presentationml.slideMaster+xml"/>
  <Override PartName="/ppt/slides/slide14.xml" ContentType="application/vnd.openxmlformats-officedocument.presentationml.slide+xml"/>
  <Override PartName="/ppt/slideMasters/slideMaster15.xml" ContentType="application/vnd.openxmlformats-officedocument.presentationml.slideMaster+xml"/>
  <Override PartName="/ppt/slides/slide15.xml" ContentType="application/vnd.openxmlformats-officedocument.presentationml.slide+xml"/>
  <Override PartName="/ppt/slideMasters/slideMaster16.xml" ContentType="application/vnd.openxmlformats-officedocument.presentationml.slideMaster+xml"/>
  <Override PartName="/ppt/slides/slide16.xml" ContentType="application/vnd.openxmlformats-officedocument.presentationml.slide+xml"/>
  <Override PartName="/ppt/slideMasters/slideMaster17.xml" ContentType="application/vnd.openxmlformats-officedocument.presentationml.slideMaster+xml"/>
  <Override PartName="/ppt/slides/slide17.xml" ContentType="application/vnd.openxmlformats-officedocument.presentationml.slide+xml"/>
  <Override PartName="/ppt/slideMasters/slideMaster18.xml" ContentType="application/vnd.openxmlformats-officedocument.presentationml.slideMaster+xml"/>
  <Override PartName="/ppt/slides/slide18.xml" ContentType="application/vnd.openxmlformats-officedocument.presentationml.slide+xml"/>
  <Override PartName="/ppt/slideMasters/slideMaster19.xml" ContentType="application/vnd.openxmlformats-officedocument.presentationml.slideMaster+xml"/>
  <Override PartName="/ppt/slides/slide19.xml" ContentType="application/vnd.openxmlformats-officedocument.presentationml.slide+xml"/>
  <Override PartName="/ppt/slideMasters/slideMaster20.xml" ContentType="application/vnd.openxmlformats-officedocument.presentationml.slideMaster+xml"/>
  <Override PartName="/ppt/slides/slide20.xml" ContentType="application/vnd.openxmlformats-officedocument.presentationml.slide+xml"/>
  <Override PartName="/ppt/slideMasters/slideMaster21.xml" ContentType="application/vnd.openxmlformats-officedocument.presentationml.slideMaster+xml"/>
  <Override PartName="/ppt/slides/slide21.xml" ContentType="application/vnd.openxmlformats-officedocument.presentationml.slide+xml"/>
  <Override PartName="/ppt/slideMasters/slideMaster22.xml" ContentType="application/vnd.openxmlformats-officedocument.presentationml.slideMaster+xml"/>
  <Override PartName="/ppt/slides/slide22.xml" ContentType="application/vnd.openxmlformats-officedocument.presentationml.slide+xml"/>
  <Override PartName="/ppt/slideMasters/slideMaster23.xml" ContentType="application/vnd.openxmlformats-officedocument.presentationml.slideMaster+xml"/>
  <Override PartName="/ppt/slides/slide23.xml" ContentType="application/vnd.openxmlformats-officedocument.presentationml.slide+xml"/>
  <Override PartName="/ppt/slideMasters/slideMaster24.xml" ContentType="application/vnd.openxmlformats-officedocument.presentationml.slideMaster+xml"/>
  <Override PartName="/ppt/slides/slide24.xml" ContentType="application/vnd.openxmlformats-officedocument.presentationml.slide+xml"/>
  <Override PartName="/ppt/slideMasters/slideMaster25.xml" ContentType="application/vnd.openxmlformats-officedocument.presentationml.slideMaster+xml"/>
  <Override PartName="/ppt/slides/slide25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
		<Relationship Id="rId1" Type="http://schemas.openxmlformats.org/officeDocument/2006/relationships/extended-properties" Target="docProps/app.xml"/>
		<Relationship Id="rId2" Type="http://schemas.openxmlformats.org/package/2006/relationships/metadata/core-properties" Target="docProps/core.xml"/>
		<Relationship Id="rId3" Type="http://schemas.openxmlformats.org/officeDocument/2006/relationships/officeDocument" Target="ppt/presentation.xml"/>
		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</p:sldIdLst>
  <p:notesMasterIdLst>
    <p:notesMasterId r:id="rId27"/>
  </p:notesMasterIdLst>
  <p:sldSz cx="12191695" cy="6858000"/>
  <p:notesSz cx="6858000" cy="12191695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36" d="100"/>
          <a:sy n="136" d="100"/>
        </p:scale>
        <p:origin x="216" y="31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slide" Target="slides/slide1.xml"/><Relationship Id="rId3" Type="http://schemas.openxmlformats.org/officeDocument/2006/relationships/slide" Target="slides/slide2.xml"/><Relationship Id="rId4" Type="http://schemas.openxmlformats.org/officeDocument/2006/relationships/slide" Target="slides/slide3.xml"/><Relationship Id="rId5" Type="http://schemas.openxmlformats.org/officeDocument/2006/relationships/slide" Target="slides/slide4.xml"/><Relationship Id="rId6" Type="http://schemas.openxmlformats.org/officeDocument/2006/relationships/slide" Target="slides/slide5.xml"/><Relationship Id="rId7" Type="http://schemas.openxmlformats.org/officeDocument/2006/relationships/slide" Target="slides/slide6.xml"/><Relationship Id="rId8" Type="http://schemas.openxmlformats.org/officeDocument/2006/relationships/slide" Target="slides/slide7.xml"/><Relationship Id="rId9" Type="http://schemas.openxmlformats.org/officeDocument/2006/relationships/slide" Target="slides/slide8.xml"/><Relationship Id="rId10" Type="http://schemas.openxmlformats.org/officeDocument/2006/relationships/slide" Target="slides/slide9.xml"/><Relationship Id="rId11" Type="http://schemas.openxmlformats.org/officeDocument/2006/relationships/slide" Target="slides/slide10.xml"/><Relationship Id="rId12" Type="http://schemas.openxmlformats.org/officeDocument/2006/relationships/slide" Target="slides/slide11.xml"/><Relationship Id="rId13" Type="http://schemas.openxmlformats.org/officeDocument/2006/relationships/slide" Target="slides/slide12.xml"/><Relationship Id="rId14" Type="http://schemas.openxmlformats.org/officeDocument/2006/relationships/slide" Target="slides/slide13.xml"/><Relationship Id="rId15" Type="http://schemas.openxmlformats.org/officeDocument/2006/relationships/slide" Target="slides/slide14.xml"/><Relationship Id="rId16" Type="http://schemas.openxmlformats.org/officeDocument/2006/relationships/slide" Target="slides/slide15.xml"/><Relationship Id="rId17" Type="http://schemas.openxmlformats.org/officeDocument/2006/relationships/slide" Target="slides/slide16.xml"/><Relationship Id="rId18" Type="http://schemas.openxmlformats.org/officeDocument/2006/relationships/slide" Target="slides/slide17.xml"/><Relationship Id="rId19" Type="http://schemas.openxmlformats.org/officeDocument/2006/relationships/slide" Target="slides/slide18.xml"/><Relationship Id="rId20" Type="http://schemas.openxmlformats.org/officeDocument/2006/relationships/slide" Target="slides/slide19.xml"/><Relationship Id="rId21" Type="http://schemas.openxmlformats.org/officeDocument/2006/relationships/slide" Target="slides/slide20.xml"/><Relationship Id="rId22" Type="http://schemas.openxmlformats.org/officeDocument/2006/relationships/slide" Target="slides/slide21.xml"/><Relationship Id="rId23" Type="http://schemas.openxmlformats.org/officeDocument/2006/relationships/slide" Target="slides/slide22.xml"/><Relationship Id="rId24" Type="http://schemas.openxmlformats.org/officeDocument/2006/relationships/slide" Target="slides/slide23.xml"/><Relationship Id="rId25" Type="http://schemas.openxmlformats.org/officeDocument/2006/relationships/slide" Target="slides/slide24.xml"/><Relationship Id="rId26" Type="http://schemas.openxmlformats.org/officeDocument/2006/relationships/slide" Target="slides/slide25.xml"/><Relationship Id="rId27" Type="http://schemas.openxmlformats.org/officeDocument/2006/relationships/notesMaster" Target="notesMasters/notesMaster1.xml"/><Relationship Id="rId28" Type="http://schemas.openxmlformats.org/officeDocument/2006/relationships/presProps" Target="presProps.xml"/><Relationship Id="rId29" Type="http://schemas.openxmlformats.org/officeDocument/2006/relationships/viewProps" Target="viewProps.xml"/><Relationship Id="rId30" Type="http://schemas.openxmlformats.org/officeDocument/2006/relationships/theme" Target="theme/theme1.xml"/><Relationship Id="rId31" Type="http://schemas.openxmlformats.org/officeDocument/2006/relationships/tableStyles" Target="tableStyles.xml"/></Relationships>
</file>

<file path=ppt/notesMasters/_rels/notesMaster1.xml.rels><?xml version="1.0" encoding="UTF-8" standalone="yes"?>
<Relationships xmlns="http://schemas.openxmlformats.org/package/2006/relationships">
		<Relationship Id="rId1" Type="http://schemas.openxmlformats.org/officeDocument/2006/relationships/theme" Target="../theme/theme1.xml"/>
		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5282F153-3F37-0F45-9E97-73ACFA13230C}" type="datetimeFigureOut">
              <a:rPr lang="en-US"/>
              <a:t>7/23/19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CE5E9CC1-C706-0F49-92D6-E571CC5EEA8F}" type="slidenum">
              <a:rPr lang="en-US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.xml"/>
		</Relationships>
</file>

<file path=ppt/notesSlides/_rels/notesSlide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.xml"/>
		</Relationships>
</file>

<file path=ppt/notesSlides/_rels/notesSlide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3.xml"/>
		</Relationships>
</file>

<file path=ppt/notesSlides/_rels/notesSlide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4.xml"/>
		</Relationships>
</file>

<file path=ppt/notesSlides/_rels/notesSlide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5.xml"/>
		</Relationships>
</file>

<file path=ppt/notesSlides/_rels/notesSlide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6.xml"/>
		</Relationships>
</file>

<file path=ppt/notesSlides/_rels/notesSlide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7.xml"/>
		</Relationships>
</file>

<file path=ppt/notesSlides/_rels/notesSlide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8.xml"/>
		</Relationships>
</file>

<file path=ppt/notesSlides/_rels/notesSlide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9.xml"/>
		</Relationships>
</file>

<file path=ppt/notesSlides/_rels/notesSlide1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0.xml"/>
		</Relationships>
</file>

<file path=ppt/notesSlides/_rels/notesSlide1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1.xml"/>
		</Relationships>
</file>

<file path=ppt/notesSlides/_rels/notesSlide1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2.xml"/>
		</Relationships>
</file>

<file path=ppt/notesSlides/_rels/notesSlide1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3.xml"/>
		</Relationships>
</file>

<file path=ppt/notesSlides/_rels/notesSlide1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4.xml"/>
		</Relationships>
</file>

<file path=ppt/notesSlides/_rels/notesSlide1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5.xml"/>
		</Relationships>
</file>

<file path=ppt/notesSlides/_rels/notesSlide16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6.xml"/>
		</Relationships>
</file>

<file path=ppt/notesSlides/_rels/notesSlide17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7.xml"/>
		</Relationships>
</file>

<file path=ppt/notesSlides/_rels/notesSlide18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8.xml"/>
		</Relationships>
</file>

<file path=ppt/notesSlides/_rels/notesSlide19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19.xml"/>
		</Relationships>
</file>

<file path=ppt/notesSlides/_rels/notesSlide20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0.xml"/>
		</Relationships>
</file>

<file path=ppt/notesSlides/_rels/notesSlide21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1.xml"/>
		</Relationships>
</file>

<file path=ppt/notesSlides/_rels/notesSlide22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2.xml"/>
		</Relationships>
</file>

<file path=ppt/notesSlides/_rels/notesSlide23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3.xml"/>
		</Relationships>
</file>

<file path=ppt/notesSlides/_rels/notesSlide24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4.xml"/>
		</Relationships>
</file>

<file path=ppt/notesSlides/_rels/notesSlide25.xml.rels><?xml version="1.0" encoding="UTF-8" standalone="yes"?>
		<Relationships xmlns="http://schemas.openxmlformats.org/package/2006/relationships">
			<Relationship Id="rId1" Type="http://schemas.openxmlformats.org/officeDocument/2006/relationships/notesMaster" Target="../notesMasters/notesMaster1.xml"/>
			<Relationship Id="rId2" Type="http://schemas.openxmlformats.org/officeDocument/2006/relationships/slide" Target="../slides/slide25.xml"/>
		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/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MASTER">
    <p:bg>
      <p:bgPr>
        <a:solidFill>
          <a:srgbClr val="F7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411480" y="6510528"/>
            <a:ext cx="11356848" cy="0"/>
          </a:xfrm>
          <a:prstGeom prst="line">
            <a:avLst/>
          </a:prstGeom>
          <a:noFill/>
          <a:ln w="8890">
            <a:solidFill>
              <a:srgbClr val="CBD5E1"/>
            </a:solidFill>
            <a:prstDash val="solid"/>
          </a:ln>
        </p:spPr>
      </p:sp>
      <p:sp>
        <p:nvSpPr>
          <p:cNvPr id="3" name="Text 1"/>
          <p:cNvSpPr/>
          <p:nvPr/>
        </p:nvSpPr>
        <p:spPr>
          <a:xfrm>
            <a:off x="457200" y="6565392"/>
            <a:ext cx="3657600" cy="16459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indent="0" marL="0">
              <a:buNone/>
            </a:pPr>
            <a:r>
              <a:rPr lang="en-US" sz="850" dirty="0">
                <a:solidFill>
                  <a:srgbClr val="64748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| Minor Project</a:t>
            </a:r>
            <a:endParaRPr lang="en-US" sz="8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1002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null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6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7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3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4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5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6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8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9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0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1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3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4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25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8FAFC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8FAFC"/>
          </a:solidFill>
          <a:ln w="12700">
            <a:solidFill>
              <a:srgbClr val="F8FAFC"/>
            </a:solidFill>
            <a:prstDash val="solid"/>
          </a:ln>
        </p:spPr>
      </p:sp>
      <p:sp>
        <p:nvSpPr>
          <p:cNvPr id="3" name="Shape 1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2563EB"/>
          </a:solidFill>
          <a:ln w="12700">
            <a:solidFill>
              <a:srgbClr val="2563EB"/>
            </a:solidFill>
            <a:prstDash val="solid"/>
          </a:ln>
        </p:spPr>
      </p:sp>
      <p:sp>
        <p:nvSpPr>
          <p:cNvPr id="4" name="Text 2"/>
          <p:cNvSpPr/>
          <p:nvPr/>
        </p:nvSpPr>
        <p:spPr>
          <a:xfrm>
            <a:off x="658368" y="713232"/>
            <a:ext cx="10789920" cy="38404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100" b="1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Minor Project Presentation</a:t>
            </a:r>
            <a:endParaRPr lang="en-US" sz="2100" dirty="0"/>
          </a:p>
        </p:txBody>
      </p:sp>
      <p:sp>
        <p:nvSpPr>
          <p:cNvPr id="5" name="Text 3"/>
          <p:cNvSpPr/>
          <p:nvPr/>
        </p:nvSpPr>
        <p:spPr>
          <a:xfrm>
            <a:off x="658368" y="1225296"/>
            <a:ext cx="1078992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On</a:t>
            </a:r>
            <a:endParaRPr lang="en-US" sz="1800" dirty="0"/>
          </a:p>
        </p:txBody>
      </p:sp>
      <p:sp>
        <p:nvSpPr>
          <p:cNvPr id="6" name="Text 4"/>
          <p:cNvSpPr/>
          <p:nvPr/>
        </p:nvSpPr>
        <p:spPr>
          <a:xfrm>
            <a:off x="658368" y="1627632"/>
            <a:ext cx="10789920" cy="65836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40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</a:t>
            </a:r>
            <a:endParaRPr lang="en-US" sz="4000" dirty="0"/>
          </a:p>
        </p:txBody>
      </p:sp>
      <p:sp>
        <p:nvSpPr>
          <p:cNvPr id="7" name="Text 5"/>
          <p:cNvSpPr/>
          <p:nvPr/>
        </p:nvSpPr>
        <p:spPr>
          <a:xfrm>
            <a:off x="1051560" y="2331720"/>
            <a:ext cx="10104120" cy="310896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Placement Data Engineering And Intelligence Platform</a:t>
            </a:r>
            <a:endParaRPr lang="en-US" sz="1800" dirty="0"/>
          </a:p>
        </p:txBody>
      </p:sp>
      <p:sp>
        <p:nvSpPr>
          <p:cNvPr id="8" name="Shape 6"/>
          <p:cNvSpPr/>
          <p:nvPr/>
        </p:nvSpPr>
        <p:spPr>
          <a:xfrm>
            <a:off x="1024128" y="301752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1261872" y="3246120"/>
            <a:ext cx="4389120" cy="1417320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Presented By:-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[Your Name]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[Roll Number]</a:t>
            </a:r>
            <a:endParaRPr lang="en-US" sz="1800" dirty="0"/>
          </a:p>
          <a:p>
            <a:pPr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2025-2026</a:t>
            </a:r>
            <a:endParaRPr lang="en-US" sz="1800" dirty="0"/>
          </a:p>
        </p:txBody>
      </p:sp>
      <p:sp>
        <p:nvSpPr>
          <p:cNvPr id="10" name="Shape 8"/>
          <p:cNvSpPr/>
          <p:nvPr/>
        </p:nvSpPr>
        <p:spPr>
          <a:xfrm>
            <a:off x="6291072" y="3017520"/>
            <a:ext cx="4846320" cy="1965960"/>
          </a:xfrm>
          <a:prstGeom prst="roundRect">
            <a:avLst>
              <a:gd name="adj" fmla="val 37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6528816" y="3273552"/>
            <a:ext cx="4343400" cy="1078992"/>
          </a:xfrm>
          <a:prstGeom prst="rect">
            <a:avLst/>
          </a:prstGeom>
          <a:noFill/>
          <a:ln/>
        </p:spPr>
        <p:txBody>
          <a:bodyPr wrap="square" rtlCol="0" anchor="ctr">
            <a:normAutofit/>
          </a:bodyPr>
          <a:lstStyle/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Guide:-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Dr./Mr./Ms. [Guide Name]</a:t>
            </a:r>
            <a:endParaRPr lang="en-US" sz="1700" dirty="0"/>
          </a:p>
          <a:p>
            <a:pPr indent="0" marL="0">
              <a:buNone/>
            </a:pPr>
            <a:r>
              <a:rPr lang="en-US" sz="17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Assistant Professor</a:t>
            </a:r>
            <a:endParaRPr lang="en-US" sz="1700" dirty="0"/>
          </a:p>
        </p:txBody>
      </p:sp>
      <p:sp>
        <p:nvSpPr>
          <p:cNvPr id="12" name="Text 10"/>
          <p:cNvSpPr/>
          <p:nvPr/>
        </p:nvSpPr>
        <p:spPr>
          <a:xfrm>
            <a:off x="731520" y="5705856"/>
            <a:ext cx="1074420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DEPARTMENT OF</a:t>
            </a:r>
            <a:endParaRPr lang="en-US" sz="1800" dirty="0"/>
          </a:p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Computer Science and Engineering</a:t>
            </a:r>
            <a:endParaRPr lang="en-US" sz="1800" dirty="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AGENDA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Contents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 &amp; Problem Statement (background, motivation, and the core problem being addressed)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or System Design (block diagrams, flowcharts, SRS, UML, DFD, ER diagrams)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 (approach, architecture, algorithms, and processes used)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Technology Used (software, languages, frameworks, and libraries)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 and Responsibilities of each member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(step-by-step development and modules built)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(screenshots, graphs, test data, observations, and metrics)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&amp; Future Scope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follows the given minor project PPT format.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</a:t>
            </a:fld>
            <a:endParaRPr lang="en-US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INTRODUCTION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AI: A Smarter Way To Understand Placement Data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College placement cells handle student, academic, resume, and company-drive data every semester.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Most placement data is still maintained in Excel files, CSV files, or Google Sheets.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Important insights such as eligibility, branch performance, placement risk, and resume readiness are difficult to identify quickly.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acts as a data pipeline that converts raw placement data into dashboards, predictions, and reports.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focus is practical placement analytics, not a generic college ERP.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reduces manual Excel work and makes placement decisions faster.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3</a:t>
            </a:fld>
            <a:endParaRPr lang="en-US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MOTIVATION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This Problem Matters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TPOs receive student data from multiple departments in different formats.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Column names often vary across files, such as dept, stream, branch, SGPA, CGPA, selected, placed, and hired.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Eligibility checking for companies becomes time-consuming when done manually.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who need support may be identified late.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Management reports require repeated manual formatting and filtering.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motivation is to turn messy placement sheets into clean operational intelligence.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4</a:t>
            </a:fld>
            <a:endParaRPr lang="en-US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PROBLEM STATEMENT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Problem Being Addressed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Training and Placement Officers manage placement data using scattered Excel files, CSV files, and Google Sheets.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Due to inconsistent column names, duplicate entries, missing values, and manual analysis, useful insights are delayed.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becomes difficult to quickly identify eligible students, at-risk students, placement trends, resume readiness, and company-wise insights.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objective is to build a web platform that imports, cleans, analyzes, predicts, and reports placement data.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problem is not just storage; it is converting raw data into decisions.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5</a:t>
            </a:fld>
            <a:endParaRPr lang="en-US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EXISTING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 Of Manual Placement Management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Manual Excel filtering for eligibility and branch-wise shortlisting.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Repeated formatting effort for reports.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Difficult comparison between branches and companies.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instant risk detection or intervention queue.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No automatic column mapping for inconsistent data files.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duplication and inconsistent naming reduce reliability.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Traditional systems are either too manual or too broad for this focused placement workflow.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6</a:t>
            </a:fld>
            <a:endParaRPr lang="en-US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PROPOSED SYSTEM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Engineering First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 data, clean it, analyze it, predict risk, and export reports.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548640" y="2011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640080" y="2139696"/>
            <a:ext cx="123444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Upload CSV / Excel / Sheet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95728" y="2011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87168" y="2139696"/>
            <a:ext cx="123444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Column Mapping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242816" y="2011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334256" y="2139696"/>
            <a:ext cx="123444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Cleaned Dataset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6089904" y="2011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181344" y="2139696"/>
            <a:ext cx="123444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Live Dashboard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936992" y="2011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8028432" y="2139696"/>
            <a:ext cx="123444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Layer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84080" y="2011680"/>
            <a:ext cx="141732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75520" y="2139696"/>
            <a:ext cx="1234440" cy="7955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Export Report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93392" y="2487168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840480" y="2487168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687568" y="2487168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534656" y="2487168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381744" y="2487168"/>
            <a:ext cx="347472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Text 21"/>
          <p:cNvSpPr/>
          <p:nvPr/>
        </p:nvSpPr>
        <p:spPr>
          <a:xfrm>
            <a:off x="713232" y="3703320"/>
            <a:ext cx="10698480" cy="14173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main user flow starts with importing placement data.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automatically maps inconsistent fields into a canonical schema.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Dashboards, eligibility insights, risk indicators, and reports are generated from the cleaned dataset.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keeps a lean student view but remains TPO-first.</a:t>
            </a:r>
            <a:endParaRPr lang="en-US" sz="1700" dirty="0"/>
          </a:p>
        </p:txBody>
      </p:sp>
      <p:sp>
        <p:nvSpPr>
          <p:cNvPr id="24" name="Shape 22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25" name="Text 23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Main USP: Excel/CSV/Google Sheet -&gt; smart mapping -&gt; dashboard -&gt; prediction -&gt; report.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7</a:t>
            </a:fld>
            <a:endParaRPr lang="en-US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RELATED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Literature Review And Technology Basis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Spreadsheet-based placement management is common but requires manual filtering and reporting.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Business intelligence tools like Power BI and Tableau provide dashboards but need setup and are not placement-specific.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Applicant Tracking Systems manage candidates but are usually designed for companies, not colleges.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Rule-based systems are useful for transparent eligibility checking.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CatBoost and other tree-based models are suitable for structured/tabular prediction problems.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combines spreadsheet ingestion, placement-specific analytics, and explainable prediction.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8</a:t>
            </a:fld>
            <a:endParaRPr lang="en-US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SYSTEM DESIGN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High-Level Architecture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Frontend, backend, data processing, intelligence, optional ML, and reports.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13232" y="1828800"/>
            <a:ext cx="155448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04672" y="1956816"/>
            <a:ext cx="137160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 / Student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743200" y="1261872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834640" y="1389888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+ Vite Frontend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2743200" y="2395728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2834640" y="2523744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Zustand + localStorage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166360" y="1828800"/>
            <a:ext cx="173736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57800" y="1956816"/>
            <a:ext cx="155448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 APIs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406640" y="1024128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498080" y="1152144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Engine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7406640" y="1920240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7498080" y="2048256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Engine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7406640" y="2816352"/>
            <a:ext cx="182880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7498080" y="2944368"/>
            <a:ext cx="164592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Engine</a:t>
            </a:r>
            <a:endParaRPr lang="en-US" sz="1300" dirty="0"/>
          </a:p>
        </p:txBody>
      </p:sp>
      <p:sp>
        <p:nvSpPr>
          <p:cNvPr id="20" name="Shape 18"/>
          <p:cNvSpPr/>
          <p:nvPr/>
        </p:nvSpPr>
        <p:spPr>
          <a:xfrm>
            <a:off x="9802368" y="1828800"/>
            <a:ext cx="1645920" cy="731520"/>
          </a:xfrm>
          <a:prstGeom prst="roundRect">
            <a:avLst>
              <a:gd name="adj" fmla="val 10000"/>
            </a:avLst>
          </a:prstGeom>
          <a:solidFill>
            <a:srgbClr val="FFFFFF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21" name="Text 19"/>
          <p:cNvSpPr/>
          <p:nvPr/>
        </p:nvSpPr>
        <p:spPr>
          <a:xfrm>
            <a:off x="9893808" y="1956816"/>
            <a:ext cx="1463040" cy="56692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 / Output</a:t>
            </a:r>
            <a:endParaRPr lang="en-US" sz="1300" dirty="0"/>
          </a:p>
        </p:txBody>
      </p:sp>
      <p:sp>
        <p:nvSpPr>
          <p:cNvPr id="22" name="Shape 20"/>
          <p:cNvSpPr/>
          <p:nvPr/>
        </p:nvSpPr>
        <p:spPr>
          <a:xfrm>
            <a:off x="2267712" y="2194560"/>
            <a:ext cx="429768" cy="-5303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2267712" y="2194560"/>
            <a:ext cx="429768" cy="56692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4" name="Shape 22"/>
          <p:cNvSpPr/>
          <p:nvPr/>
        </p:nvSpPr>
        <p:spPr>
          <a:xfrm>
            <a:off x="4617720" y="1627632"/>
            <a:ext cx="502920" cy="56692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5" name="Shape 23"/>
          <p:cNvSpPr/>
          <p:nvPr/>
        </p:nvSpPr>
        <p:spPr>
          <a:xfrm>
            <a:off x="4617720" y="2761488"/>
            <a:ext cx="502920" cy="-56692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931152" y="2194560"/>
            <a:ext cx="429768" cy="-80467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Shape 25"/>
          <p:cNvSpPr/>
          <p:nvPr/>
        </p:nvSpPr>
        <p:spPr>
          <a:xfrm>
            <a:off x="6931152" y="2194560"/>
            <a:ext cx="429768" cy="914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8" name="Shape 26"/>
          <p:cNvSpPr/>
          <p:nvPr/>
        </p:nvSpPr>
        <p:spPr>
          <a:xfrm>
            <a:off x="6931152" y="2194560"/>
            <a:ext cx="429768" cy="987552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9" name="Shape 27"/>
          <p:cNvSpPr/>
          <p:nvPr/>
        </p:nvSpPr>
        <p:spPr>
          <a:xfrm>
            <a:off x="9281160" y="2286000"/>
            <a:ext cx="484632" cy="-9144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30" name="Text 28"/>
          <p:cNvSpPr/>
          <p:nvPr/>
        </p:nvSpPr>
        <p:spPr>
          <a:xfrm>
            <a:off x="731520" y="4937760"/>
            <a:ext cx="10789920" cy="50292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is modular, so ingestion, analytics, prediction, and reporting remain separate and maintainable.</a:t>
            </a:r>
            <a:endParaRPr lang="en-US" sz="17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9</a:t>
            </a:fld>
            <a:endParaRPr lang="en-US"/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FLOW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How Raw Placement Data Becomes Intelligence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simplified DFD for the main data pipeline.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64008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2563EB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31520" y="2093976"/>
            <a:ext cx="1143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TPO/Admin</a:t>
            </a:r>
            <a:endParaRPr lang="en-US" sz="1300" dirty="0"/>
          </a:p>
        </p:txBody>
      </p:sp>
      <p:sp>
        <p:nvSpPr>
          <p:cNvPr id="8" name="Shape 6"/>
          <p:cNvSpPr/>
          <p:nvPr/>
        </p:nvSpPr>
        <p:spPr>
          <a:xfrm>
            <a:off x="237744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0891B2"/>
            </a:solidFill>
            <a:prstDash val="solid"/>
          </a:ln>
        </p:spPr>
      </p:sp>
      <p:sp>
        <p:nvSpPr>
          <p:cNvPr id="9" name="Text 7"/>
          <p:cNvSpPr/>
          <p:nvPr/>
        </p:nvSpPr>
        <p:spPr>
          <a:xfrm>
            <a:off x="2468880" y="2093976"/>
            <a:ext cx="1143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Import Data</a:t>
            </a:r>
            <a:endParaRPr lang="en-US" sz="1300" dirty="0"/>
          </a:p>
        </p:txBody>
      </p:sp>
      <p:sp>
        <p:nvSpPr>
          <p:cNvPr id="10" name="Shape 8"/>
          <p:cNvSpPr/>
          <p:nvPr/>
        </p:nvSpPr>
        <p:spPr>
          <a:xfrm>
            <a:off x="411480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0F766E"/>
            </a:solidFill>
            <a:prstDash val="solid"/>
          </a:ln>
        </p:spPr>
      </p:sp>
      <p:sp>
        <p:nvSpPr>
          <p:cNvPr id="11" name="Text 9"/>
          <p:cNvSpPr/>
          <p:nvPr/>
        </p:nvSpPr>
        <p:spPr>
          <a:xfrm>
            <a:off x="4206240" y="2093976"/>
            <a:ext cx="1143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Clean &amp; Normalize</a:t>
            </a:r>
            <a:endParaRPr lang="en-US" sz="1300" dirty="0"/>
          </a:p>
        </p:txBody>
      </p:sp>
      <p:sp>
        <p:nvSpPr>
          <p:cNvPr id="12" name="Shape 10"/>
          <p:cNvSpPr/>
          <p:nvPr/>
        </p:nvSpPr>
        <p:spPr>
          <a:xfrm>
            <a:off x="598932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16A34A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6080760" y="2093976"/>
            <a:ext cx="1143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Generate Analytics</a:t>
            </a:r>
            <a:endParaRPr lang="en-US" sz="1300" dirty="0"/>
          </a:p>
        </p:txBody>
      </p:sp>
      <p:sp>
        <p:nvSpPr>
          <p:cNvPr id="14" name="Shape 12"/>
          <p:cNvSpPr/>
          <p:nvPr/>
        </p:nvSpPr>
        <p:spPr>
          <a:xfrm>
            <a:off x="7845552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7C3AED"/>
            </a:solidFill>
            <a:prstDash val="solid"/>
          </a:ln>
        </p:spPr>
      </p:sp>
      <p:sp>
        <p:nvSpPr>
          <p:cNvPr id="15" name="Text 13"/>
          <p:cNvSpPr/>
          <p:nvPr/>
        </p:nvSpPr>
        <p:spPr>
          <a:xfrm>
            <a:off x="7936992" y="2093976"/>
            <a:ext cx="1143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 Risk</a:t>
            </a:r>
            <a:endParaRPr lang="en-US" sz="1300" dirty="0"/>
          </a:p>
        </p:txBody>
      </p:sp>
      <p:sp>
        <p:nvSpPr>
          <p:cNvPr id="16" name="Shape 14"/>
          <p:cNvSpPr/>
          <p:nvPr/>
        </p:nvSpPr>
        <p:spPr>
          <a:xfrm>
            <a:off x="9738360" y="1965960"/>
            <a:ext cx="1325880" cy="822960"/>
          </a:xfrm>
          <a:prstGeom prst="roundRect">
            <a:avLst>
              <a:gd name="adj" fmla="val 8889"/>
            </a:avLst>
          </a:prstGeom>
          <a:solidFill>
            <a:srgbClr val="FFFFFF"/>
          </a:solidFill>
          <a:ln w="16510">
            <a:solidFill>
              <a:srgbClr val="D97706"/>
            </a:solidFill>
            <a:prstDash val="solid"/>
          </a:ln>
        </p:spPr>
      </p:sp>
      <p:sp>
        <p:nvSpPr>
          <p:cNvPr id="17" name="Text 15"/>
          <p:cNvSpPr/>
          <p:nvPr/>
        </p:nvSpPr>
        <p:spPr>
          <a:xfrm>
            <a:off x="9829800" y="2093976"/>
            <a:ext cx="1143000" cy="65836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+ Reports</a:t>
            </a:r>
            <a:endParaRPr lang="en-US" sz="1300" dirty="0"/>
          </a:p>
        </p:txBody>
      </p:sp>
      <p:sp>
        <p:nvSpPr>
          <p:cNvPr id="18" name="Shape 16"/>
          <p:cNvSpPr/>
          <p:nvPr/>
        </p:nvSpPr>
        <p:spPr>
          <a:xfrm>
            <a:off x="1993392" y="2377440"/>
            <a:ext cx="3383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19" name="Shape 17"/>
          <p:cNvSpPr/>
          <p:nvPr/>
        </p:nvSpPr>
        <p:spPr>
          <a:xfrm>
            <a:off x="3730752" y="2377440"/>
            <a:ext cx="33832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0" name="Shape 18"/>
          <p:cNvSpPr/>
          <p:nvPr/>
        </p:nvSpPr>
        <p:spPr>
          <a:xfrm>
            <a:off x="5468112" y="2377440"/>
            <a:ext cx="475488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1" name="Shape 19"/>
          <p:cNvSpPr/>
          <p:nvPr/>
        </p:nvSpPr>
        <p:spPr>
          <a:xfrm>
            <a:off x="7342632" y="2377440"/>
            <a:ext cx="457200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2" name="Shape 20"/>
          <p:cNvSpPr/>
          <p:nvPr/>
        </p:nvSpPr>
        <p:spPr>
          <a:xfrm>
            <a:off x="9198864" y="2377440"/>
            <a:ext cx="493776" cy="0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3" name="Shape 21"/>
          <p:cNvSpPr/>
          <p:nvPr/>
        </p:nvSpPr>
        <p:spPr>
          <a:xfrm>
            <a:off x="4352544" y="3749040"/>
            <a:ext cx="2011680" cy="713232"/>
          </a:xfrm>
          <a:prstGeom prst="roundRect">
            <a:avLst>
              <a:gd name="adj" fmla="val 10256"/>
            </a:avLst>
          </a:prstGeom>
          <a:solidFill>
            <a:srgbClr val="FFFFFF"/>
          </a:solidFill>
          <a:ln w="16510">
            <a:solidFill>
              <a:srgbClr val="E11D48"/>
            </a:solidFill>
            <a:prstDash val="solid"/>
          </a:ln>
        </p:spPr>
      </p:sp>
      <p:sp>
        <p:nvSpPr>
          <p:cNvPr id="24" name="Text 22"/>
          <p:cNvSpPr/>
          <p:nvPr/>
        </p:nvSpPr>
        <p:spPr>
          <a:xfrm>
            <a:off x="4443984" y="3877056"/>
            <a:ext cx="1828800" cy="54864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pPr algn="ctr" indent="0" marL="0">
              <a:buNone/>
            </a:pPr>
            <a:r>
              <a:rPr lang="en-US" sz="13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Local Demo Storage</a:t>
            </a:r>
            <a:endParaRPr lang="en-US" sz="1300" dirty="0"/>
          </a:p>
        </p:txBody>
      </p:sp>
      <p:sp>
        <p:nvSpPr>
          <p:cNvPr id="25" name="Shape 23"/>
          <p:cNvSpPr/>
          <p:nvPr/>
        </p:nvSpPr>
        <p:spPr>
          <a:xfrm>
            <a:off x="5120640" y="2816352"/>
            <a:ext cx="146304" cy="88696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6" name="Shape 24"/>
          <p:cNvSpPr/>
          <p:nvPr/>
        </p:nvSpPr>
        <p:spPr>
          <a:xfrm>
            <a:off x="6382512" y="4096512"/>
            <a:ext cx="1527048" cy="-1298448"/>
          </a:xfrm>
          <a:prstGeom prst="line">
            <a:avLst/>
          </a:prstGeom>
          <a:noFill/>
          <a:ln w="15240">
            <a:solidFill>
              <a:srgbClr val="64748B"/>
            </a:solidFill>
            <a:prstDash val="solid"/>
            <a:headEnd type="none"/>
            <a:tailEnd type="triangle"/>
          </a:ln>
        </p:spPr>
      </p:sp>
      <p:sp>
        <p:nvSpPr>
          <p:cNvPr id="27" name="Text 25"/>
          <p:cNvSpPr/>
          <p:nvPr/>
        </p:nvSpPr>
        <p:spPr>
          <a:xfrm>
            <a:off x="822960" y="5074920"/>
            <a:ext cx="10241280" cy="841248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5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External entity: TPO/Admin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Processes: import, normalize, analyze, predict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store: local demo storage</a:t>
            </a:r>
            <a:endParaRPr lang="en-US" sz="1500" dirty="0"/>
          </a:p>
          <a:p>
            <a:r>
              <a:rPr lang="en-US" sz="15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Output: dashboard insights and downloadable reports</a:t>
            </a:r>
            <a:endParaRPr lang="en-US" sz="15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10</a:t>
            </a:fld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 CASES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Major Use Cases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TPO/Admin: login, import Excel/CSV, import Google Sheets, view dashboard, manage students, manage drives, view predictions, export reports.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Student: login, view dashboard, view opportunities, check readiness, attend mock interview, update profile.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TPO side is the primary product workflow.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student side is intentionally lean and supports readiness visibility.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product boundary was simplified to keep the minor project focused and explainable.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11</a:t>
            </a:fld>
            <a:endParaRPr lang="en-US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Core Entities Used In The System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Student: id, name, email, enrollment, branch, cgpa, attendance, activeBacklogs, atsScore, aptitudeScore, communicationScore, skills, projects, internships, placementStatus.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Drive: id, company, role, packageLpa, minCgpa, minAttendance, maxBacklogs, eligibleBranches, requiredSkills, preferredSkills, deadline, status.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Application: id, studentId, driveId, status, matchScore, appliedAt.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simple model supports dashboard analytics, eligibility checks, prediction, and reports.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is simple enough for a minor project but complete enough for the workflow.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12</a:t>
            </a:fld>
            <a:endParaRPr lang="en-US"/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METHODOLOGY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Development Methodology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Performed codebase audit and identified broken or duplicate feature pages.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Refocused the product around TPO-first data engineering.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Rebuilt navigation into a smaller, clearer information architecture.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Improved import, mapping, dashboard, prediction, and reporting flow.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Used explainable rules first, with CatBoost-ready ML support as an optional layer.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Kept localStorage demo mode so the project runs easily in VS Code.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methodology prioritizes reliable working features over feature soup.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13</a:t>
            </a:fld>
            <a:endParaRPr lang="en-US"/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ALGORITHM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Column Mapping Algorithm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Convert each uploaded column name to lowercase.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Remove spaces, underscores, and special characters.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Match headers against known aliases.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dept, stream, department -&gt; branch; sgpa, gpa, score -&gt; cgpa.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Examples: current_back, backs, kt -&gt; activeBacklogs; placed, selected, hired -&gt; placementStatus.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Unknown fields are marked as unmapped and schema confidence is calculated.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handles messy real-world placement spreadsheets.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14</a:t>
            </a:fld>
            <a:endParaRPr lang="en-US"/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ANALYTICS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Placement Intelligence Logic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Eligibility, branch performance, backlog impact, and resume readiness.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85623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22585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Students detected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92608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3090672" y="185623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Eligible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090672" y="22585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CGPA + attendance + branch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512064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285232" y="185623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E11D4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285232" y="22585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Backlogs + ATS + scores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731520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479792" y="185623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Branch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479792" y="22585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Readiness comparison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9509760" y="1691640"/>
            <a:ext cx="1965960" cy="960120"/>
          </a:xfrm>
          <a:prstGeom prst="roundRect">
            <a:avLst>
              <a:gd name="adj" fmla="val 7619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674352" y="1856232"/>
            <a:ext cx="163677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674352" y="2258568"/>
            <a:ext cx="163677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Exportable summary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154680"/>
            <a:ext cx="10698480" cy="22860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Eligibility checks use CGPA, attendance, active backlogs, and branch rules.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Risk scoring uses academic, resume, aptitude, communication, and placement activity signals.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visuals include placement funnel, branch overview, risk distribution, backlog impact, attendance risk, and recent imports.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Operational insights are generated through rule-based summaries.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15</a:t>
            </a:fld>
            <a:endParaRPr lang="en-US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ENGINE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Explainable Placement Prediction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estimates how likely a student is to be shortlisted or placed for a company role.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Input features include CGPA, attendance, active backlogs, branch, ATS score, aptitude score, communication score, projects, internships, skills count, and applications count.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Outputs include placement probability, shortlist probability, risk category, score breakdown, positive factors, negative factors, and recommended actions.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model strategy is CatBoost-ready with deterministic weighted fallback scoring.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Every prediction is explainable; it is not a fake black-box AI score.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16</a:t>
            </a:fld>
            <a:endParaRPr lang="en-US"/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ML MODEL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Why CatBoost Is Suitable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CatBoost is a gradient boosting model originally developed by Yandex.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well suited for structured and tabular datasets.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can handle mixed data signals like branch, CGPA, attendance, backlogs, ATS score, and activity metrics.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It is more practical than deep learning for this placement prediction use case.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In Placify, CatBoost is optional at runtime; fallback scoring keeps the demo reliable.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makes the ML explanation strong and viva-friendly.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17</a:t>
            </a:fld>
            <a:endParaRPr lang="en-US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TECHNOLOGY STACK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Tools And Technology Used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Frontend: React, Vite, TailwindCSS, Framer Motion, Recharts, Zustand, Lucide React.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Backend: Node.js, Express.js, REST APIs.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processing: PapaParse for CSV, SheetJS for Excel/XLSX, Google Sheets CSV export endpoint.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AI/ML: FastAPI, CatBoost-ready prediction API, deterministic fallback scoring, optional Gemini support for mock interview.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Storage: localStorage demo mode with optional database integration possible later.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Hardware: standard laptop or desktop system.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stack is modern but still easy to run for evaluation.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18</a:t>
            </a:fld>
            <a:endParaRPr lang="en-US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TEAM WORK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Roles And Responsibilities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Frontend development: UI/UX, dashboard pages, routing, responsive layout, and navigation.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Backend development: Express APIs, ingestion endpoints, prediction contract, and reports.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engineering: smart mapping, duplicate detection, validation, and sample data preparation.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logic: eligibility, risk scoring, CatBoost-ready ML API, and fallback scoring.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and documentation: build checks, route verification, README, PPT, and demo preparation.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Customize this slide with actual member names before final submission.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19</a:t>
            </a:fld>
            <a:endParaRPr lang="en-US"/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Data Import Module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 upload implemented using PapaParse.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Excel/XLSX upload implemented using SheetJS.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Public Google Sheets URL ingestion implemented through backend API.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Preview-before-import allows the TPO to inspect rows before committing.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normalizes fields, detects duplicates, validates records, and updates dashboard data.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is the star module of the project.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20</a:t>
            </a:fld>
            <a:endParaRPr lang="en-US"/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 Placement Overview Dashboard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 command-center view generated from imported data.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Shape 4"/>
          <p:cNvSpPr/>
          <p:nvPr/>
        </p:nvSpPr>
        <p:spPr>
          <a:xfrm>
            <a:off x="731520" y="1600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896112" y="17647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6</a:t>
            </a:r>
            <a:endParaRPr lang="en-US" sz="2200" dirty="0"/>
          </a:p>
        </p:txBody>
      </p:sp>
      <p:sp>
        <p:nvSpPr>
          <p:cNvPr id="8" name="Text 6"/>
          <p:cNvSpPr/>
          <p:nvPr/>
        </p:nvSpPr>
        <p:spPr>
          <a:xfrm>
            <a:off x="896112" y="21671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Total students</a:t>
            </a:r>
            <a:endParaRPr lang="en-US" sz="1050" dirty="0"/>
          </a:p>
        </p:txBody>
      </p:sp>
      <p:sp>
        <p:nvSpPr>
          <p:cNvPr id="9" name="Shape 7"/>
          <p:cNvSpPr/>
          <p:nvPr/>
        </p:nvSpPr>
        <p:spPr>
          <a:xfrm>
            <a:off x="2788920" y="1600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0" name="Text 8"/>
          <p:cNvSpPr/>
          <p:nvPr/>
        </p:nvSpPr>
        <p:spPr>
          <a:xfrm>
            <a:off x="2953512" y="17647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16A34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4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2953512" y="21671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Eligible students</a:t>
            </a:r>
            <a:endParaRPr lang="en-US" sz="1050" dirty="0"/>
          </a:p>
        </p:txBody>
      </p:sp>
      <p:sp>
        <p:nvSpPr>
          <p:cNvPr id="12" name="Shape 10"/>
          <p:cNvSpPr/>
          <p:nvPr/>
        </p:nvSpPr>
        <p:spPr>
          <a:xfrm>
            <a:off x="4846320" y="1600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3" name="Text 11"/>
          <p:cNvSpPr/>
          <p:nvPr/>
        </p:nvSpPr>
        <p:spPr>
          <a:xfrm>
            <a:off x="5010912" y="17647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0F766E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1</a:t>
            </a:r>
            <a:endParaRPr lang="en-US" sz="2200" dirty="0"/>
          </a:p>
        </p:txBody>
      </p:sp>
      <p:sp>
        <p:nvSpPr>
          <p:cNvPr id="14" name="Text 12"/>
          <p:cNvSpPr/>
          <p:nvPr/>
        </p:nvSpPr>
        <p:spPr>
          <a:xfrm>
            <a:off x="5010912" y="21671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Placed students</a:t>
            </a:r>
            <a:endParaRPr lang="en-US" sz="1050" dirty="0"/>
          </a:p>
        </p:txBody>
      </p:sp>
      <p:sp>
        <p:nvSpPr>
          <p:cNvPr id="15" name="Shape 13"/>
          <p:cNvSpPr/>
          <p:nvPr/>
        </p:nvSpPr>
        <p:spPr>
          <a:xfrm>
            <a:off x="6903720" y="1600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6" name="Text 14"/>
          <p:cNvSpPr/>
          <p:nvPr/>
        </p:nvSpPr>
        <p:spPr>
          <a:xfrm>
            <a:off x="7068312" y="17647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7C3AED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3</a:t>
            </a:r>
            <a:endParaRPr lang="en-US" sz="2200" dirty="0"/>
          </a:p>
        </p:txBody>
      </p:sp>
      <p:sp>
        <p:nvSpPr>
          <p:cNvPr id="17" name="Text 15"/>
          <p:cNvSpPr/>
          <p:nvPr/>
        </p:nvSpPr>
        <p:spPr>
          <a:xfrm>
            <a:off x="7068312" y="21671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Active drives</a:t>
            </a:r>
            <a:endParaRPr lang="en-US" sz="1050" dirty="0"/>
          </a:p>
        </p:txBody>
      </p:sp>
      <p:sp>
        <p:nvSpPr>
          <p:cNvPr id="18" name="Shape 16"/>
          <p:cNvSpPr/>
          <p:nvPr/>
        </p:nvSpPr>
        <p:spPr>
          <a:xfrm>
            <a:off x="8961120" y="1600200"/>
            <a:ext cx="1828800" cy="868680"/>
          </a:xfrm>
          <a:prstGeom prst="roundRect">
            <a:avLst>
              <a:gd name="adj" fmla="val 8421"/>
            </a:avLst>
          </a:prstGeom>
          <a:solidFill>
            <a:srgbClr val="FFFFFF"/>
          </a:solidFill>
          <a:ln w="12700">
            <a:solidFill>
              <a:srgbClr val="D8E3F0"/>
            </a:solidFill>
            <a:prstDash val="solid"/>
          </a:ln>
        </p:spPr>
      </p:sp>
      <p:sp>
        <p:nvSpPr>
          <p:cNvPr id="19" name="Text 17"/>
          <p:cNvSpPr/>
          <p:nvPr/>
        </p:nvSpPr>
        <p:spPr>
          <a:xfrm>
            <a:off x="9125712" y="1764792"/>
            <a:ext cx="1499616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2200" b="1" dirty="0">
                <a:solidFill>
                  <a:srgbClr val="D97706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86%</a:t>
            </a:r>
            <a:endParaRPr lang="en-US" sz="2200" dirty="0"/>
          </a:p>
        </p:txBody>
      </p:sp>
      <p:sp>
        <p:nvSpPr>
          <p:cNvPr id="20" name="Text 18"/>
          <p:cNvSpPr/>
          <p:nvPr/>
        </p:nvSpPr>
        <p:spPr>
          <a:xfrm>
            <a:off x="9125712" y="2167128"/>
            <a:ext cx="1499616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>
            <a:normAutofit/>
          </a:bodyPr>
          <a:lstStyle/>
          <a:p>
            <a:pPr indent="0" marL="0">
              <a:buNone/>
            </a:pPr>
            <a:r>
              <a:rPr lang="en-US" sz="10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Schema confidence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731520" y="3090672"/>
            <a:ext cx="10698480" cy="205740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6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Dashboard widgets include placement market, hiring velocity, placement funnel, branch overview, operational insights, backlog impact, and attendance risk.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Old experimental shortcut cards were replaced with pipeline evidence like rows parsed, students detected, companies detected, duplicate count, and schema confidence.</a:t>
            </a:r>
            <a:endParaRPr lang="en-US" sz="1600" dirty="0"/>
          </a:p>
          <a:p>
            <a:r>
              <a:rPr lang="en-US" sz="16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Charts are data-driven from imported rows instead of static filler.</a:t>
            </a:r>
            <a:endParaRPr lang="en-US" sz="16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21</a:t>
            </a:fld>
            <a:endParaRPr lang="en-US"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IMPLEMENTATION III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And Lean Student Workspace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new TPO Prediction page shows students scored, average probability, high chance students, at-risk students, model feature weights, risk distribution, and prediction queue.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Student side has only four primary pages: Dashboard, Opportunities, Mock Interview, and Profile.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Broken standalone modules such as Resume Studio, My Predictor, Insights Lab, and Campus Predictor were removed from the user-facing flow.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explanations now appear inside dashboard and opportunity contexts.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This keeps the product concise and easier to explain.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22</a:t>
            </a:fld>
            <a:endParaRPr lang="en-US"/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Results And Observations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TPO dashboard opens properly and shows data-driven placement analytics.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Navigation is simplified and stable for both TPO and Student roles.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CSV, Excel/XLSX, and public Google Sheets ingestion are supported.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Smart mapping handles inconsistent college column names.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Prediction page shows explainable probability, risk category, feature weights, and recommendations.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Reports remain available for export.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Testing completed: frontend lint passed, production build passed, backend health endpoint passed, prediction API smoke test passed, browser route check passed.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strongest result is a working data engineering and analytics demo.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23</a:t>
            </a:fld>
            <a:endParaRPr lang="en-US"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Conclusion And Future Scope</a:t>
            </a:r>
            <a:endParaRPr lang="en-US" sz="2500" dirty="0"/>
          </a:p>
        </p:txBody>
      </p:sp>
      <p:sp>
        <p:nvSpPr>
          <p:cNvPr id="4" name="Shape 2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5" name="Text 3"/>
          <p:cNvSpPr/>
          <p:nvPr/>
        </p:nvSpPr>
        <p:spPr>
          <a:xfrm>
            <a:off x="713232" y="1572768"/>
            <a:ext cx="10835640" cy="45262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Placify AI successfully demonstrates how raw placement data can be transformed into dashboards, eligibility intelligence, risk detection, prediction outputs, and reports.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system reduces manual spreadsheet effort and gives TPOs a faster way to understand placement readiness.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Limitations: local demo storage, public Google Sheets only, CatBoost requires trained artifacts for full ML mode, and prediction quality depends on data quality.</a:t>
            </a:r>
            <a:endParaRPr lang="en-US" sz="1700" dirty="0"/>
          </a:p>
          <a:p>
            <a:r>
              <a:rPr lang="en-US" sz="170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Future scope: Supabase/PostgreSQL database, trained CatBoost model using historical data, authentication and RBAC, email/WhatsApp reminders, advanced resume parsing, and long-term trend forecasting.</a:t>
            </a:r>
            <a:endParaRPr lang="en-US" sz="1700" dirty="0"/>
          </a:p>
        </p:txBody>
      </p:sp>
      <p:sp>
        <p:nvSpPr>
          <p:cNvPr id="6" name="Shape 4"/>
          <p:cNvSpPr/>
          <p:nvPr/>
        </p:nvSpPr>
        <p:spPr>
          <a:xfrm>
            <a:off x="566928" y="6053328"/>
            <a:ext cx="11045952" cy="384048"/>
          </a:xfrm>
          <a:prstGeom prst="roundRect">
            <a:avLst>
              <a:gd name="adj" fmla="val 16667"/>
            </a:avLst>
          </a:prstGeom>
          <a:solidFill>
            <a:srgbClr val="EFF6FF"/>
          </a:solidFill>
          <a:ln w="10160">
            <a:solidFill>
              <a:srgbClr val="BFDBFE"/>
            </a:solidFill>
            <a:prstDash val="solid"/>
          </a:ln>
        </p:spPr>
      </p:sp>
      <p:sp>
        <p:nvSpPr>
          <p:cNvPr id="7" name="Text 5"/>
          <p:cNvSpPr/>
          <p:nvPr/>
        </p:nvSpPr>
        <p:spPr>
          <a:xfrm>
            <a:off x="749808" y="6144768"/>
            <a:ext cx="10607040" cy="1828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050" i="1" dirty="0">
                <a:solidFill>
                  <a:srgbClr val="1D4ED8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The project is practical now and can be extended into a larger production system later.</a:t>
            </a:r>
            <a:endParaRPr lang="en-US" sz="105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24</a:t>
            </a:fld>
            <a:endParaRPr lang="en-US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ext 0"/>
          <p:cNvSpPr/>
          <p:nvPr/>
        </p:nvSpPr>
        <p:spPr>
          <a:xfrm>
            <a:off x="566928" y="256032"/>
            <a:ext cx="106070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9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</a:t>
            </a:r>
            <a:endParaRPr lang="en-US" sz="900" dirty="0"/>
          </a:p>
        </p:txBody>
      </p:sp>
      <p:sp>
        <p:nvSpPr>
          <p:cNvPr id="3" name="Text 1"/>
          <p:cNvSpPr/>
          <p:nvPr/>
        </p:nvSpPr>
        <p:spPr>
          <a:xfrm>
            <a:off x="548640" y="512064"/>
            <a:ext cx="11064240" cy="502920"/>
          </a:xfrm>
          <a:prstGeom prst="rect">
            <a:avLst/>
          </a:prstGeom>
          <a:noFill/>
          <a:ln/>
        </p:spPr>
        <p:txBody>
          <a:bodyPr wrap="square" lIns="254" tIns="254" rIns="254" bIns="254" rtlCol="0" anchor="ctr">
            <a:normAutofit/>
          </a:bodyPr>
          <a:lstStyle/>
          <a:p>
            <a:pPr indent="0" marL="0">
              <a:buNone/>
            </a:pPr>
            <a:r>
              <a:rPr lang="en-US" sz="25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References And Thank You</a:t>
            </a:r>
            <a:endParaRPr lang="en-US" sz="2500" dirty="0"/>
          </a:p>
        </p:txBody>
      </p:sp>
      <p:sp>
        <p:nvSpPr>
          <p:cNvPr id="4" name="Text 2"/>
          <p:cNvSpPr/>
          <p:nvPr/>
        </p:nvSpPr>
        <p:spPr>
          <a:xfrm>
            <a:off x="566928" y="1005840"/>
            <a:ext cx="10515600" cy="31089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indent="0" marL="0">
              <a:buNone/>
            </a:pPr>
            <a:r>
              <a:rPr lang="en-US" sz="1250" dirty="0">
                <a:solidFill>
                  <a:srgbClr val="475569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Books, papers, websites, and documentation used.</a:t>
            </a:r>
            <a:endParaRPr lang="en-US" sz="1250" dirty="0"/>
          </a:p>
        </p:txBody>
      </p:sp>
      <p:sp>
        <p:nvSpPr>
          <p:cNvPr id="5" name="Shape 3"/>
          <p:cNvSpPr/>
          <p:nvPr/>
        </p:nvSpPr>
        <p:spPr>
          <a:xfrm>
            <a:off x="566928" y="1353312"/>
            <a:ext cx="11064240" cy="0"/>
          </a:xfrm>
          <a:prstGeom prst="line">
            <a:avLst/>
          </a:prstGeom>
          <a:noFill/>
          <a:ln w="12700">
            <a:solidFill>
              <a:srgbClr val="E2E8F0"/>
            </a:solidFill>
            <a:prstDash val="solid"/>
          </a:ln>
        </p:spPr>
      </p:sp>
      <p:sp>
        <p:nvSpPr>
          <p:cNvPr id="6" name="Text 4"/>
          <p:cNvSpPr/>
          <p:nvPr/>
        </p:nvSpPr>
        <p:spPr>
          <a:xfrm>
            <a:off x="713232" y="1572768"/>
            <a:ext cx="7040880" cy="4297680"/>
          </a:xfrm>
          <a:prstGeom prst="rect">
            <a:avLst/>
          </a:prstGeom>
          <a:noFill/>
          <a:ln/>
        </p:spPr>
        <p:txBody>
          <a:bodyPr wrap="square" lIns="508" tIns="508" rIns="508" bIns="508" rtlCol="0" anchor="ctr">
            <a:normAutofit/>
          </a:bodyPr>
          <a:lstStyle/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React Documentation: https://react.dev/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Vite Documentation: https://vite.dev/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Tailwind CSS Documentation: https://tailwindcss.com/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Recharts Documentation: https://recharts.org/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PapaParse Documentation: https://www.papaparse.com/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SheetJS Documentation: https://docs.sheetjs.com/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Express.js Documentation: https://expressjs.com/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FastAPI Documentation: https://fastapi.tiangolo.com/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CatBoost Documentation: https://catboost.ai/</a:t>
            </a:r>
            <a:endParaRPr lang="en-US" sz="1450" dirty="0"/>
          </a:p>
          <a:p>
            <a:r>
              <a:rPr lang="en-US" sz="1450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Google Sheets CSV export documentation</a:t>
            </a:r>
            <a:endParaRPr lang="en-US" sz="1450" dirty="0"/>
          </a:p>
        </p:txBody>
      </p:sp>
      <p:sp>
        <p:nvSpPr>
          <p:cNvPr id="7" name="Shape 5"/>
          <p:cNvSpPr/>
          <p:nvPr/>
        </p:nvSpPr>
        <p:spPr>
          <a:xfrm>
            <a:off x="8229600" y="2011680"/>
            <a:ext cx="3017520" cy="1920240"/>
          </a:xfrm>
          <a:prstGeom prst="roundRect">
            <a:avLst>
              <a:gd name="adj" fmla="val 3810"/>
            </a:avLst>
          </a:prstGeom>
          <a:solidFill>
            <a:srgbClr val="EFF6FF"/>
          </a:solidFill>
          <a:ln w="12700">
            <a:solidFill>
              <a:srgbClr val="BFDBFE"/>
            </a:solidFill>
            <a:prstDash val="solid"/>
          </a:ln>
        </p:spPr>
      </p:sp>
      <p:sp>
        <p:nvSpPr>
          <p:cNvPr id="8" name="Text 6"/>
          <p:cNvSpPr/>
          <p:nvPr/>
        </p:nvSpPr>
        <p:spPr>
          <a:xfrm>
            <a:off x="8412480" y="2395728"/>
            <a:ext cx="2651760" cy="475488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2800" b="1" dirty="0">
                <a:solidFill>
                  <a:srgbClr val="2563EB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Thank You</a:t>
            </a:r>
            <a:endParaRPr lang="en-US" sz="2800" dirty="0"/>
          </a:p>
        </p:txBody>
      </p:sp>
      <p:sp>
        <p:nvSpPr>
          <p:cNvPr id="9" name="Text 7"/>
          <p:cNvSpPr/>
          <p:nvPr/>
        </p:nvSpPr>
        <p:spPr>
          <a:xfrm>
            <a:off x="8412480" y="2944368"/>
            <a:ext cx="265176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algn="ctr" indent="0" marL="0">
              <a:buNone/>
            </a:pPr>
            <a:r>
              <a:rPr lang="en-US" sz="1800" b="1" dirty="0">
                <a:solidFill>
                  <a:srgbClr val="0F172A"/>
                </a:solidFill>
                <a:latin typeface="Times New Roman" pitchFamily="34" charset="0"/>
                <a:ea typeface="Times New Roman" pitchFamily="34" charset="-122"/>
                <a:cs typeface="Times New Roman" pitchFamily="34" charset="-120"/>
              </a:rPr>
              <a:t>Questions?</a:t>
            </a:r>
            <a:endParaRPr lang="en-US" sz="1800" dirty="0"/>
          </a:p>
        </p:txBody>
      </p:sp>
      <p:sp>
        <p:nvSpPr>
          <p:cNvPr id="25" name="Slide Number Placeholder 0"/>
          <p:cNvSpPr>
            <a:spLocks noGrp="1"/>
          </p:cNvSpPr>
          <p:nvPr>
            <p:ph type="sldNum" sz="quarter" idx="4294967295"/>
          </p:nvPr>
        </p:nvSpPr>
        <p:spPr>
          <a:xfrm>
            <a:off x="11292840" y="6556248"/>
            <a:ext cx="800000" cy="300000"/>
          </a:xfrm>
          <a:prstGeom prst="rect">
            <a:avLst/>
          </a:prstGeom>
          <a:extLst>
            <a:ext uri="{C572A759-6A51-4108-AA02-DFA0A04FC94B}">
              <ma14:wrappingTextBoxFlag xmlns:ma14="http://schemas.microsoft.com/office/mac/drawingml/2011/main" val="0"/>
            </a:ext>
          </a:extLst>
        </p:spPr>
        <p:txBody>
          <a:bodyPr/>
          <a:lstStyle>
            <a:lvl1pPr>
              <a:defRPr sz="850">
                <a:solidFill>
                  <a:srgbClr val="64748B"/>
                </a:solidFill>
                <a:latin typeface="Times New Roman"/>
                <a:ea typeface="Times New Roman"/>
                <a:cs typeface="Times New Roman"/>
              </a:defRPr>
            </a:lvl1pPr>
          </a:lstStyle>
          <a:p>
            <a:pPr algn="l"/>
            <a:fld id="{F7021451-1387-4CA6-816F-3879F97B5CBC}" type="slidenum">
              <a:rPr b="0" lang="en-US"/>
              <a:t>25</a:t>
            </a:fld>
            <a:endParaRPr lang="en-US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Times New Roman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Times New Roman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(16:9)</PresentationFormat>
  <Paragraphs>0</Paragraphs>
  <Slides>25</Slides>
  <Notes>25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25</vt:i4>
      </vt:variant>
    </vt:vector>
  </HeadingPairs>
  <TitlesOfParts>
    <vt:vector size="28" baseType="lpstr">
      <vt:lpstr>Arial</vt:lpstr>
      <vt:lpstr>Calibri</vt:lpstr>
      <vt:lpstr>Office Theme</vt:lpstr>
      <vt:lpstr>Slide 1</vt:lpstr>
      <vt:lpstr>Slide 2</vt:lpstr>
      <vt:lpstr>Slide 3</vt:lpstr>
      <vt:lpstr>Slide 4</vt:lpstr>
      <vt:lpstr>Slide 5</vt:lpstr>
      <vt:lpstr>Slide 6</vt:lpstr>
      <vt:lpstr>Slide 7</vt:lpstr>
      <vt:lpstr>Slide 8</vt:lpstr>
      <vt:lpstr>Slide 9</vt:lpstr>
      <vt:lpstr>Slide 10</vt:lpstr>
      <vt:lpstr>Slide 11</vt:lpstr>
      <vt:lpstr>Slide 12</vt:lpstr>
      <vt:lpstr>Slide 13</vt:lpstr>
      <vt:lpstr>Slide 14</vt:lpstr>
      <vt:lpstr>Slide 15</vt:lpstr>
      <vt:lpstr>Slide 16</vt:lpstr>
      <vt:lpstr>Slide 17</vt:lpstr>
      <vt:lpstr>Slide 18</vt:lpstr>
      <vt:lpstr>Slide 19</vt:lpstr>
      <vt:lpstr>Slide 20</vt:lpstr>
      <vt:lpstr>Slide 21</vt:lpstr>
      <vt:lpstr>Slide 22</vt:lpstr>
      <vt:lpstr>Slide 23</vt:lpstr>
      <vt:lpstr>Slide 24</vt:lpstr>
      <vt:lpstr>Slide 25</vt:lpstr>
    </vt:vector>
  </TitlesOfParts>
  <Company>Minor Project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Placify AI - Placement Data Engineering And Intelligence Platform</dc:title>
  <dc:subject>Placify AI Minor Project Presentation</dc:subject>
  <dc:creator>Placify AI</dc:creator>
  <cp:lastModifiedBy>Placify AI</cp:lastModifiedBy>
  <cp:revision>1</cp:revision>
  <dcterms:created xsi:type="dcterms:W3CDTF">2026-05-17T03:23:00Z</dcterms:created>
  <dcterms:modified xsi:type="dcterms:W3CDTF">2026-05-17T03:23:00Z</dcterms:modified>
</cp:coreProperties>
</file>